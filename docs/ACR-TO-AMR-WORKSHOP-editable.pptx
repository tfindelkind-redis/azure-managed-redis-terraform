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earn.microsoft.com/en-us/azure/redis/overview" TargetMode="External" /><Relationship Id="rId3" Type="http://schemas.openxmlformats.org/officeDocument/2006/relationships/hyperlink" Target="https://learn.microsoft.com/en-us/azure/redis/migrate/migrate-basic-standard-premium-overview" TargetMode="External" /><Relationship Id="rId4" Type="http://schemas.openxmlformats.org/officeDocument/2006/relationships/hyperlink" Target="https://learn.microsoft.com/en-us/azure/redis/migrate/migrate-redis-enterprise-overview" TargetMode="External" /><Relationship Id="rId5" Type="http://schemas.openxmlformats.org/officeDocument/2006/relationships/hyperlink" Target="https://redis.github.io/riot/" TargetMode="External" /><Relationship Id="rId6" Type="http://schemas.openxmlformats.org/officeDocument/2006/relationships/hyperlink" Target="https://redis.com/redis-enterprise/redis-insight/" TargetMode="Externa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ACR to AMR Migration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Workshop Duration</a:t>
            </a:r>
            <a:r>
              <a:rPr sz="2000"/>
              <a:t>: 2.5 hours</a:t>
            </a:r>
            <a:br/>
            <a:r>
              <a:rPr sz="2000" b="1"/>
              <a:t>Audience</a:t>
            </a:r>
            <a:r>
              <a:rPr sz="2000"/>
              <a:t>: Platform Engineers, DevOps, Architects</a:t>
            </a:r>
            <a:br/>
            <a:r>
              <a:rPr sz="2000" b="1"/>
              <a:t>Prerequisites</a:t>
            </a:r>
            <a:r>
              <a:rPr sz="2000"/>
              <a:t>: Azure subscription, basic Redis knowledge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Workshop Agenda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700"/>
                <a:gridCol w="14986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Welcome, objectives, housekeeping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Redis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Redis - The Real-Time data platform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☕ </a:t>
                      </a:r>
                      <a:r>
                        <a:rPr b="1"/>
                        <a:t>Break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Burning 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Retirement timeline, what is AMR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14:05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Critical 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breaking changes deep dive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14:50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☕ </a:t>
                      </a:r>
                      <a:r>
                        <a:rPr b="1"/>
                        <a:t>Break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Migration &amp; Next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Strategies, checklist, action items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15:20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Q&amp;A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discussion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INTRODUCTION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Welcome &amp; Objectives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Workshop Goals</a:t>
            </a:r>
          </a:p>
          <a:p>
            <a:pPr lvl="0" indent="0" marL="0">
              <a:buNone/>
            </a:pPr>
            <a:r>
              <a:rPr/>
              <a:t>By the end of this session, you will:</a:t>
            </a:r>
          </a:p>
          <a:p>
            <a:pPr lvl="0" indent="-342900" marL="342900">
              <a:buAutoNum type="arabicPeriod"/>
            </a:pPr>
            <a:r>
              <a:rPr/>
              <a:t>✅ Understand </a:t>
            </a:r>
            <a:r>
              <a:rPr b="1"/>
              <a:t>why</a:t>
            </a:r>
            <a:r>
              <a:rPr/>
              <a:t> ACR is being retired</a:t>
            </a:r>
          </a:p>
          <a:p>
            <a:pPr lvl="0" indent="-342900" marL="342900">
              <a:buAutoNum type="arabicPeriod"/>
            </a:pPr>
            <a:r>
              <a:rPr/>
              <a:t>✅ Know the </a:t>
            </a:r>
            <a:r>
              <a:rPr b="1"/>
              <a:t>13 critical differences</a:t>
            </a:r>
            <a:r>
              <a:rPr/>
              <a:t> between ACR and AMR</a:t>
            </a:r>
          </a:p>
          <a:p>
            <a:pPr lvl="0" indent="-342900" marL="342900">
              <a:buAutoNum type="arabicPeriod"/>
            </a:pPr>
            <a:r>
              <a:rPr/>
              <a:t>✅ Identify </a:t>
            </a:r>
            <a:r>
              <a:rPr b="1"/>
              <a:t>blockers</a:t>
            </a:r>
            <a:r>
              <a:rPr/>
              <a:t> in your current environment</a:t>
            </a:r>
          </a:p>
          <a:p>
            <a:pPr lvl="0" indent="-342900" marL="342900">
              <a:buAutoNum type="arabicPeriod"/>
            </a:pPr>
            <a:r>
              <a:rPr/>
              <a:t>✅ Have a </a:t>
            </a:r>
            <a:r>
              <a:rPr b="1"/>
              <a:t>migration action plan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Ground Rules</a:t>
            </a:r>
          </a:p>
          <a:p>
            <a:pPr lvl="0"/>
            <a:r>
              <a:rPr/>
              <a:t>Questions welcome anytime</a:t>
            </a:r>
          </a:p>
          <a:p>
            <a:pPr lvl="0"/>
            <a:r>
              <a:rPr/>
              <a:t>Slides &amp; resources shared after</a:t>
            </a:r>
          </a:p>
          <a:p>
            <a:pPr lvl="0"/>
            <a:r>
              <a:rPr/>
              <a:t>Focus on YOUR environment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REDIS - THE REAL-TIME DATA PLATFORM (30 min)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What is Redis?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Redis = The Real-Time Data Platform</a:t>
            </a:r>
          </a:p>
          <a:p>
            <a:pPr lvl="0" indent="0" marL="1270000">
              <a:buNone/>
            </a:pPr>
            <a:r>
              <a:rPr sz="2000"/>
              <a:t>“Redis is an in-memory data store that provides </a:t>
            </a:r>
            <a:r>
              <a:rPr sz="2000" b="1"/>
              <a:t>sub-millisecond latency</a:t>
            </a:r>
            <a:r>
              <a:rPr sz="2000"/>
              <a:t> for real-time applications”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&lt;1ms latency, 1M+ ops/sec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Versatility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10+ data structures, not just key-value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Real-Time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Instant reads/writes, pub/sub, streaming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Simplicity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APIs, no query language needed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The Real-Time Data Challenge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Traditional Databases Aren’t Enough</a:t>
            </a:r>
          </a:p>
          <a:p>
            <a:pPr lvl="0" indent="0">
              <a:buNone/>
            </a:pPr>
            <a:r>
              <a:rPr>
                <a:latin typeface="Courier"/>
              </a:rPr>
              <a:t>User Action → API → Database → Response
                      ↓
                   10-100ms 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Modern User Expectations</a:t>
            </a:r>
          </a:p>
          <a:p>
            <a:pPr lvl="0"/>
            <a:r>
              <a:rPr/>
              <a:t>Gaming: </a:t>
            </a:r>
            <a:r>
              <a:rPr b="1"/>
              <a:t>Instant</a:t>
            </a:r>
            <a:r>
              <a:rPr/>
              <a:t> leaderboard updates</a:t>
            </a:r>
          </a:p>
          <a:p>
            <a:pPr lvl="0"/>
            <a:r>
              <a:rPr/>
              <a:t>E-commerce: </a:t>
            </a:r>
            <a:r>
              <a:rPr b="1"/>
              <a:t>Real-time</a:t>
            </a:r>
            <a:r>
              <a:rPr/>
              <a:t> inventory</a:t>
            </a:r>
          </a:p>
          <a:p>
            <a:pPr lvl="0"/>
            <a:r>
              <a:rPr/>
              <a:t>Social: </a:t>
            </a:r>
            <a:r>
              <a:rPr b="1"/>
              <a:t>Live</a:t>
            </a:r>
            <a:r>
              <a:rPr/>
              <a:t> notifications</a:t>
            </a:r>
          </a:p>
          <a:p>
            <a:pPr lvl="0"/>
            <a:r>
              <a:rPr/>
              <a:t>Finance: </a:t>
            </a:r>
            <a:r>
              <a:rPr b="1"/>
              <a:t>Immediate</a:t>
            </a:r>
            <a:r>
              <a:rPr/>
              <a:t> fraud detection</a:t>
            </a:r>
          </a:p>
          <a:p>
            <a:pPr lvl="0" indent="0" marL="0">
              <a:buNone/>
            </a:pPr>
            <a:r>
              <a:rPr b="1"/>
              <a:t>Latency = Lost Revenue + Bad UX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Redis as the Speed Layer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Real-Time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┌──────────┐     ┌─────────────────────┐     ┌──────────────┐
│   App    │────▶│   Redis (Speed)     │────▶│   Database   │
│          │◀────│   &lt;1ms response     │◀────│   (Storage)  │
└──────────┘     └─────────────────────┘     └──────────────┘
                 │ Real-time layer      │   │ Source of truth │
                 │ • Caching            │   │ • Durability     │
                 │ • Sessions           │   │ • Complex queries│
                 │ • Leaderboards       │   │ • Analytics      │
                 │ • Rate limiting      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Real-Time Use Case: Caching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Reduce Database Load by 80-95%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get_product(product_id):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Try cache first</a:t>
            </a:r>
            <a:br/>
            <a:r>
              <a:rPr>
                <a:latin typeface="Courier"/>
              </a:rPr>
              <a:t>    cached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redis.get(</a:t>
            </a:r>
            <a:r>
              <a:rPr>
                <a:solidFill>
                  <a:srgbClr val="BB6688"/>
                </a:solidFill>
                <a:latin typeface="Courier"/>
              </a:rPr>
              <a:t>f"product: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product_id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cached: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json.loads(cached)  </a:t>
            </a:r>
            <a:r>
              <a:rPr i="1">
                <a:solidFill>
                  <a:srgbClr val="60A0B0"/>
                </a:solidFill>
                <a:latin typeface="Courier"/>
              </a:rPr>
              <a:t># &lt;1ms ✅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Cache miss → DB</a:t>
            </a:r>
            <a:br/>
            <a:r>
              <a:rPr>
                <a:latin typeface="Courier"/>
              </a:rPr>
              <a:t>    product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db.query(product_id)  </a:t>
            </a:r>
            <a:r>
              <a:rPr i="1">
                <a:solidFill>
                  <a:srgbClr val="60A0B0"/>
                </a:solidFill>
                <a:latin typeface="Courier"/>
              </a:rPr>
              <a:t># 10-100ms</a:t>
            </a:r>
            <a:br/>
            <a:r>
              <a:rPr>
                <a:latin typeface="Courier"/>
              </a:rPr>
              <a:t>    redis.setex(</a:t>
            </a:r>
            <a:r>
              <a:rPr>
                <a:solidFill>
                  <a:srgbClr val="BB6688"/>
                </a:solidFill>
                <a:latin typeface="Courier"/>
              </a:rPr>
              <a:t>f"product: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product_id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latin typeface="Courier"/>
              </a:rPr>
              <a:t>, json.dumps(product))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</a:t>
            </a:r>
          </a:p>
          <a:p>
            <a:pPr lvl="0" indent="0" marL="0">
              <a:buNone/>
            </a:pPr>
            <a:r>
              <a:rPr b="1"/>
              <a:t>Impact</a:t>
            </a:r>
            <a:r>
              <a:rPr/>
              <a:t>: Faster response + lower DB costs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6: Real-Time Use Case: Session Store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Stateless Apps, Fast Sessions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Login: Store session</a:t>
            </a:r>
            <a:br/>
            <a:r>
              <a:rPr>
                <a:latin typeface="Courier"/>
              </a:rPr>
              <a:t>redis.setex(</a:t>
            </a:r>
            <a:r>
              <a:rPr>
                <a:solidFill>
                  <a:srgbClr val="BB6688"/>
                </a:solidFill>
                <a:latin typeface="Courier"/>
              </a:rPr>
              <a:t>f"session: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latin typeface="Courier"/>
              </a:rPr>
              <a:t>, json.dumps(user_data))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Every request: Validate session</a:t>
            </a:r>
            <a:br/>
            <a:r>
              <a:rPr>
                <a:latin typeface="Courier"/>
              </a:rPr>
              <a:t>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json.loads(redis.get(</a:t>
            </a:r>
            <a:r>
              <a:rPr>
                <a:solidFill>
                  <a:srgbClr val="BB6688"/>
                </a:solidFill>
                <a:latin typeface="Courier"/>
              </a:rPr>
              <a:t>f"session: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))  </a:t>
            </a:r>
            <a:r>
              <a:rPr i="1">
                <a:solidFill>
                  <a:srgbClr val="60A0B0"/>
                </a:solidFill>
                <a:latin typeface="Courier"/>
              </a:rPr>
              <a:t># &lt;1ms</a:t>
            </a:r>
          </a:p>
          <a:p>
            <a:pPr lvl="0" indent="0" marL="0">
              <a:buNone/>
            </a:pPr>
            <a:r>
              <a:rPr b="1"/>
              <a:t>Why Redis for Sessions?</a:t>
            </a:r>
            <a:r>
              <a:rPr/>
              <a:t> - Scale app servers horizontally - Automatic expiration (TTL) - Shared across all instances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7: Real-Time Use Case: Leaderboards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Instant Rankings with Sorted Sets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Update score (real-time)</a:t>
            </a:r>
            <a:br/>
            <a:r>
              <a:rPr>
                <a:latin typeface="Courier"/>
              </a:rPr>
              <a:t>redis.zadd(</a:t>
            </a:r>
            <a:r>
              <a:rPr>
                <a:solidFill>
                  <a:srgbClr val="4070A0"/>
                </a:solidFill>
                <a:latin typeface="Courier"/>
              </a:rPr>
              <a:t>"game:leaderboard"</a:t>
            </a:r>
            <a:r>
              <a:rPr>
                <a:latin typeface="Courier"/>
              </a:rPr>
              <a:t>, {</a:t>
            </a:r>
            <a:r>
              <a:rPr>
                <a:solidFill>
                  <a:srgbClr val="4070A0"/>
                </a:solidFill>
                <a:latin typeface="Courier"/>
              </a:rPr>
              <a:t>"player42"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15000</a:t>
            </a:r>
            <a:r>
              <a:rPr>
                <a:latin typeface="Courier"/>
              </a:rPr>
              <a:t>})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Get top 10 (instant)</a:t>
            </a:r>
            <a:br/>
            <a:r>
              <a:rPr>
                <a:latin typeface="Courier"/>
              </a:rPr>
              <a:t>top_10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redis.zrevrange(</a:t>
            </a:r>
            <a:r>
              <a:rPr>
                <a:solidFill>
                  <a:srgbClr val="4070A0"/>
                </a:solidFill>
                <a:latin typeface="Courier"/>
              </a:rPr>
              <a:t>"game:leaderboard"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, withscores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Get player rank (instant)</a:t>
            </a:r>
            <a:br/>
            <a:r>
              <a:rPr>
                <a:latin typeface="Courier"/>
              </a:rPr>
              <a:t>rank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redis.zrevrank(</a:t>
            </a:r>
            <a:r>
              <a:rPr>
                <a:solidFill>
                  <a:srgbClr val="4070A0"/>
                </a:solidFill>
                <a:latin typeface="Courier"/>
              </a:rPr>
              <a:t>"game:leaderboard"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"player42"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O(log N)</a:t>
            </a:r>
            <a:r>
              <a:rPr/>
              <a:t> - Scales to millions of players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8: Real-Time Use Case: Rate Limiting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Protect APIs in Real-Time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check_rate_limit(user_id, limit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 window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f"rate: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user_id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: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(time.time())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window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redis.incr(key)</a:t>
            </a:r>
            <a:br/>
            <a:r>
              <a:rPr>
                <a:latin typeface="Courier"/>
              </a:rPr>
              <a:t>    redis.expire(key, window)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limit</a:t>
            </a:r>
          </a:p>
          <a:p>
            <a:pPr lvl="0" indent="0" marL="0">
              <a:buNone/>
            </a:pPr>
            <a:r>
              <a:rPr b="1"/>
              <a:t>Use Cases</a:t>
            </a:r>
            <a:r>
              <a:rPr/>
              <a:t>: - API throttling (prevent abuse) - Login protection (brute force) - Feature flags (gradual rollout)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9: Real-Time Use Case: Pub/Sub &amp; Streams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Event-Driven Architecture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Publisher (real-time events)</a:t>
            </a:r>
            <a:br/>
            <a:r>
              <a:rPr>
                <a:latin typeface="Courier"/>
              </a:rPr>
              <a:t>redis.publish(</a:t>
            </a:r>
            <a:r>
              <a:rPr>
                <a:solidFill>
                  <a:srgbClr val="4070A0"/>
                </a:solidFill>
                <a:latin typeface="Courier"/>
              </a:rPr>
              <a:t>"orders"</a:t>
            </a:r>
            <a:r>
              <a:rPr>
                <a:latin typeface="Courier"/>
              </a:rPr>
              <a:t>, json.dumps({</a:t>
            </a:r>
            <a:r>
              <a:rPr>
                <a:solidFill>
                  <a:srgbClr val="4070A0"/>
                </a:solidFill>
                <a:latin typeface="Courier"/>
              </a:rPr>
              <a:t>"order_id"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123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"status"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"shipped"</a:t>
            </a:r>
            <a:r>
              <a:rPr>
                <a:latin typeface="Courier"/>
              </a:rPr>
              <a:t>}))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Subscriber (instant notification)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message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pubsub.listen():</a:t>
            </a:r>
            <a:br/>
            <a:r>
              <a:rPr>
                <a:latin typeface="Courier"/>
              </a:rPr>
              <a:t>    notify_customer(message)</a:t>
            </a:r>
          </a:p>
          <a:p>
            <a:pPr lvl="0" indent="0" marL="0">
              <a:buNone/>
            </a:pPr>
            <a:r>
              <a:rPr b="1"/>
              <a:t>Redis Streams</a:t>
            </a:r>
            <a:r>
              <a:rPr/>
              <a:t> (persistent): - Event sourcing - Activity feeds - IoT data ingestion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10: Redis Data Structures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Use Case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Caching, counters, feature flags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profiles, product catalog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 queues, activity feeds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Tags, unique visitors, fraud detection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Sorted 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Leaderboards, time-based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 logs, message queues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documents (Redis module)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Full-text search (Redis module)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Metrics, IoT (Redis module)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11: Redis on Azure Today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Products → One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Based 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Cache for Redis (ACR)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Retiring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Community Redis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Managed Redis (AMR)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Future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Redis Enterprise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AMR = Real-Time Data Platform on Azure</a:t>
            </a:r>
          </a:p>
          <a:p>
            <a:pPr lvl="0"/>
            <a:r>
              <a:rPr b="1"/>
              <a:t>Multi-threaded</a:t>
            </a:r>
            <a:r>
              <a:rPr/>
              <a:t>: Full CPU utilization</a:t>
            </a:r>
          </a:p>
          <a:p>
            <a:pPr lvl="0"/>
            <a:r>
              <a:rPr b="1"/>
              <a:t>Redis 7.4</a:t>
            </a:r>
            <a:r>
              <a:rPr/>
              <a:t>: Latest features</a:t>
            </a:r>
          </a:p>
          <a:p>
            <a:pPr lvl="0"/>
            <a:r>
              <a:rPr b="1"/>
              <a:t>Active Geo-Rep</a:t>
            </a:r>
            <a:r>
              <a:rPr/>
              <a:t>: Real-time globally</a:t>
            </a:r>
          </a:p>
          <a:p>
            <a:pPr lvl="0"/>
            <a:r>
              <a:rPr b="1"/>
              <a:t>Modules</a:t>
            </a:r>
            <a:r>
              <a:rPr/>
              <a:t>: Search, JSON, TimeSeries built-in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☕ BREAK (10 min)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THE BURNING PLATFORM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12: ACR Retirement Timeline 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Retirement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Left*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Sept 30, 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~29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Sept 30, 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~29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Sept 30, 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~29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March 31, 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~11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Flash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March 31, 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~11 months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*As of April 2026</a:t>
            </a:r>
          </a:p>
          <a:p>
            <a:pPr lvl="0" indent="0" marL="1270000">
              <a:buNone/>
            </a:pPr>
            <a:r>
              <a:rPr sz="2000"/>
              <a:t>🚨 </a:t>
            </a:r>
            <a:r>
              <a:rPr sz="2000" b="1"/>
              <a:t>Enterprise tier customers: You’re first!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13: What is Azure Managed Redis?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AMR = Redis Enterprise on Azure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Single-threaded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Multi-threaded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Redis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 / 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vCPU utilized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 vCPUs utilized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Geo-Replication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Passive (read-only)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Active (all writable)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Optional</a:t>
                      </a:r>
                      <a:r>
                        <a:rPr/>
                        <a:t> (cost savings)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 tiers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14: AMR Tier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Memory:vCPU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Memory Optimized (M)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8:1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Dev/Test, memory-heavy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Balanced (B)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4:1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workloads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Compute Optimized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2:1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High-throughput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Flash Optimized (A)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NVMe +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datasets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4: CRITICAL DIFFERENCES (45 min)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15: The 13 Things That Will Break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 RBAC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Data Access Policies?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DBs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SELECT command?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library support?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VNet Injection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with VNet?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DNS/Port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Hardcoded connections?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non-TLS clients?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to scale down?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 in your region?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 Firewall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IP rules?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IaC/Terraform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Infrastructure as Code?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 DNS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Private Link?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Keyspace Notifications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key events?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 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savings opportunity!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16: 🔴 #1 Entra ID RBAC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Basic/Std/Premium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 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Access Policies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Impact</a:t>
            </a:r>
          </a:p>
          <a:p>
            <a:pPr lvl="0"/>
            <a:r>
              <a:rPr/>
              <a:t>Lose granular permissions (Owner/Contributor/Reader)</a:t>
            </a:r>
          </a:p>
          <a:p>
            <a:pPr lvl="0"/>
            <a:r>
              <a:rPr/>
              <a:t>All authenticated users get full access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Audit current RBAC usage</a:t>
            </a:r>
          </a:p>
          <a:p>
            <a:pPr lvl="0"/>
            <a:r>
              <a:rPr/>
              <a:t>☐ Plan application-level access control</a:t>
            </a:r>
          </a:p>
          <a:p>
            <a:pPr lvl="0"/>
            <a:r>
              <a:rPr/>
              <a:t>☐ Consider separate instances for isolation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17: 🔴 #2 Multiple Databases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(non-clustered)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Only db0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 command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Fails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 Your Environment</a:t>
            </a:r>
          </a:p>
          <a:p>
            <a:pPr lvl="0" indent="0">
              <a:buNone/>
            </a:pPr>
            <a:r>
              <a:rPr>
                <a:latin typeface="Courier"/>
              </a:rPr>
              <a:t>redis-cli INFO keyspace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db0:keys=1000  ← OK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db1:keys=500   ← BLOCKER!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Migration Options</a:t>
            </a:r>
          </a:p>
          <a:p>
            <a:pPr lvl="0" indent="-342900" marL="342900">
              <a:buAutoNum type="arabicPeriod"/>
            </a:pPr>
            <a:r>
              <a:rPr/>
              <a:t>Key prefixes: </a:t>
            </a:r>
            <a:r>
              <a:rPr>
                <a:latin typeface="Courier"/>
              </a:rPr>
              <a:t>SELECT 1; SET key</a:t>
            </a:r>
            <a:r>
              <a:rPr/>
              <a:t> → </a:t>
            </a:r>
            <a:r>
              <a:rPr>
                <a:latin typeface="Courier"/>
              </a:rPr>
              <a:t>SET db1:key</a:t>
            </a:r>
          </a:p>
          <a:p>
            <a:pPr lvl="0" indent="-342900" marL="342900">
              <a:buAutoNum type="arabicPeriod"/>
            </a:pPr>
            <a:r>
              <a:rPr/>
              <a:t>Separate AMR instances per database</a:t>
            </a:r>
          </a:p>
          <a:p>
            <a:pPr lvl="0" indent="-342900" marL="342900">
              <a:buAutoNum type="arabicPeriod"/>
            </a:pPr>
            <a:r>
              <a:rPr/>
              <a:t>Redesign data model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18: 🟡 #3 Clustering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  <a:p>
            <a:pPr lvl="0"/>
            <a:r>
              <a:rPr/>
              <a:t>AMR is </a:t>
            </a:r>
            <a:r>
              <a:rPr b="1"/>
              <a:t>always clustered internally</a:t>
            </a:r>
          </a:p>
          <a:p>
            <a:pPr lvl="0"/>
            <a:r>
              <a:rPr/>
              <a:t>Default: </a:t>
            </a:r>
            <a:r>
              <a:rPr b="1"/>
              <a:t>Enterprise Cluster Policy</a:t>
            </a:r>
            <a:r>
              <a:rPr/>
              <a:t> (looks non-clustered to clients)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Cluster Policies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Behavior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</a:t>
                      </a:r>
                      <a:r>
                        <a:rPr/>
                        <a:t> (default)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endpoint, no CROSSSLOT errors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Multi-endpoint, higher throughput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Non-Clustered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≤25GB only, no sharding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Verify client library supports clustering</a:t>
            </a:r>
          </a:p>
          <a:p>
            <a:pPr lvl="0"/>
            <a:r>
              <a:rPr/>
              <a:t>☐ Test multi-key commands (MGET, MSET, PIPELINE)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19: 🟡 #4 VNet Injection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VNet Injection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Required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Impact</a:t>
            </a:r>
          </a:p>
          <a:p>
            <a:pPr lvl="0"/>
            <a:r>
              <a:rPr/>
              <a:t>Cannot deploy Redis inside your subnet</a:t>
            </a:r>
          </a:p>
          <a:p>
            <a:pPr lvl="0"/>
            <a:r>
              <a:rPr/>
              <a:t>Must use Private Endpoint instead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Identify Premium instances with VNet injection</a:t>
            </a:r>
          </a:p>
          <a:p>
            <a:pPr lvl="0"/>
            <a:r>
              <a:rPr/>
              <a:t>☐ Plan Private Endpoint deployment</a:t>
            </a:r>
          </a:p>
          <a:p>
            <a:pPr lvl="0"/>
            <a:r>
              <a:rPr/>
              <a:t>☐ Update NSG rules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20: 🟡 #5 DNS/Port Changes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Connection String Changes</a:t>
            </a:r>
          </a:p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- myredis.redis.cache.windows.net:6380</a:t>
            </a:r>
            <a:br/>
            <a:r>
              <a:rPr>
                <a:solidFill>
                  <a:srgbClr val="19177C"/>
                </a:solidFill>
                <a:latin typeface="Courier"/>
              </a:rPr>
              <a:t>+ myredis.westus2.redis.azure.net:10000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Port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supported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Update all connection strings</a:t>
            </a:r>
          </a:p>
          <a:p>
            <a:pPr lvl="0"/>
            <a:r>
              <a:rPr/>
              <a:t>☐ Remove hardcoded ports</a:t>
            </a:r>
          </a:p>
          <a:p>
            <a:pPr lvl="0"/>
            <a:r>
              <a:rPr/>
              <a:t>☐ Update monitoring endpoints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21: 🟡 #6 TLS Required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Port 6379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⚠️ BLOCKER if any client cannot use TLS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Audit all clients for TLS capability</a:t>
            </a:r>
          </a:p>
          <a:p>
            <a:pPr lvl="0"/>
            <a:r>
              <a:rPr/>
              <a:t>☐ Check legacy apps, scripts, tools</a:t>
            </a:r>
          </a:p>
          <a:p>
            <a:pPr lvl="0"/>
            <a:r>
              <a:rPr/>
              <a:t>☐ Migrate ALL to TLS before cutover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22: 🟡 #7 Scaling 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AMR Rules</a:t>
            </a:r>
          </a:p>
          <a:p>
            <a:pPr lvl="0"/>
            <a:r>
              <a:rPr/>
              <a:t>✅ Scale down if memory &lt; target AND SKU compatible</a:t>
            </a:r>
          </a:p>
          <a:p>
            <a:pPr lvl="0"/>
            <a:r>
              <a:rPr/>
              <a:t>❌ Geo-replicated caches cannot scale down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what you can scale to</a:t>
            </a:r>
            <a:br/>
            <a:r>
              <a:rPr>
                <a:latin typeface="Courier"/>
              </a:rPr>
              <a:t>az redisenterprise list-skus-for-scaling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--cluster-name</a:t>
            </a:r>
            <a:r>
              <a:rPr>
                <a:latin typeface="Courier"/>
              </a:rPr>
              <a:t> myamr </a:t>
            </a:r>
            <a:r>
              <a:rPr>
                <a:solidFill>
                  <a:srgbClr val="7D9029"/>
                </a:solidFill>
                <a:latin typeface="Courier"/>
              </a:rPr>
              <a:t>--resource-group</a:t>
            </a:r>
            <a:r>
              <a:rPr>
                <a:latin typeface="Courier"/>
              </a:rPr>
              <a:t> myrg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</a:t>
            </a:r>
            <a:r>
              <a:rPr b="1"/>
              <a:t>Right-size carefully</a:t>
            </a:r>
            <a:r>
              <a:rPr/>
              <a:t> - can’t easily reduce later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23: 🟡 #8 Region Availability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  <a:p>
            <a:pPr lvl="0"/>
            <a:r>
              <a:rPr/>
              <a:t>AMR not available in all ACR regions (yet)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Check AMR availability in your region</a:t>
            </a:r>
          </a:p>
          <a:p>
            <a:pPr lvl="0"/>
            <a:r>
              <a:rPr/>
              <a:t>☐ Plan region migration if needed</a:t>
            </a:r>
          </a:p>
          <a:p>
            <a:pPr lvl="0" indent="0">
              <a:buNone/>
            </a:pPr>
            <a:r>
              <a:rPr>
                <a:latin typeface="Courier"/>
              </a:rPr>
              <a:t>az provider show </a:t>
            </a:r>
            <a:r>
              <a:rPr>
                <a:solidFill>
                  <a:srgbClr val="7D9029"/>
                </a:solidFill>
                <a:latin typeface="Courier"/>
              </a:rPr>
              <a:t>--namespace</a:t>
            </a:r>
            <a:r>
              <a:rPr>
                <a:latin typeface="Courier"/>
              </a:rPr>
              <a:t> Microsoft.Cache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--query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"resourceTypes[?resourceType=='redisEnterprise'].locations"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24: 🟡 #9 IP Firewall Rules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 Firewall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Required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Replace IP rules with Private Link + NSG</a:t>
            </a:r>
          </a:p>
          <a:p>
            <a:pPr lvl="0"/>
            <a:r>
              <a:rPr/>
              <a:t>☐ Update network security architecture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25: 🟡 #10 IaC/Terraform Changes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 Type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azurerm_redis_cache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azurerm_redis_enterprise_cluster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(included)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azurerm_redis_enterprise_database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AMR requires TWO resources (cluster + database)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Update Terraform/Bicep/ARM templates</a:t>
            </a:r>
          </a:p>
          <a:p>
            <a:pPr lvl="0"/>
            <a:r>
              <a:rPr/>
              <a:t>☐ Plan IaC migration alongside cache migration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26: 🟡 #11 Private DNS Zones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- privatelink.redis.cache.windows.net</a:t>
            </a:r>
            <a:br/>
            <a:r>
              <a:rPr>
                <a:solidFill>
                  <a:srgbClr val="19177C"/>
                </a:solidFill>
                <a:latin typeface="Courier"/>
              </a:rPr>
              <a:t>+ privatelink.redis.azure.net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Create new Private DNS Zone</a:t>
            </a:r>
          </a:p>
          <a:p>
            <a:pPr lvl="0"/>
            <a:r>
              <a:rPr/>
              <a:t>☐ Link to VNets</a:t>
            </a:r>
          </a:p>
          <a:p>
            <a:pPr lvl="0"/>
            <a:r>
              <a:rPr/>
              <a:t>☐ Update Private Endpoint DNS config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27: 🟡 #12 Keyspace Notifications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Std/Premium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Keyspace Notifications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They Do</a:t>
            </a:r>
          </a:p>
          <a:p>
            <a:pPr lvl="0"/>
            <a:r>
              <a:rPr/>
              <a:t>Subscribe to key events (SET, DEL, EXPIRE)</a:t>
            </a:r>
          </a:p>
          <a:p>
            <a:pPr lvl="0"/>
            <a:r>
              <a:rPr/>
              <a:t>Trigger on TTL expiration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 (if using)</a:t>
            </a:r>
          </a:p>
          <a:p>
            <a:pPr lvl="0"/>
            <a:r>
              <a:rPr/>
              <a:t>☐ Redesign with explicit Pub/Sub</a:t>
            </a:r>
          </a:p>
          <a:p>
            <a:pPr lvl="0"/>
            <a:r>
              <a:rPr/>
              <a:t>☐ Implement application-level tracking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28: 🟢 #13 HA Optional (ADVANTAGE!)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Changes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Std/Premium/Enterprise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on (pay for it)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💰 Cost Savings Opportunity</a:t>
            </a:r>
          </a:p>
          <a:p>
            <a:pPr lvl="0"/>
            <a:r>
              <a:rPr/>
              <a:t>Disable HA for dev/test</a:t>
            </a:r>
          </a:p>
          <a:p>
            <a:pPr lvl="0"/>
            <a:r>
              <a:rPr/>
              <a:t>Lower cost, same functionality for non-prod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 Required</a:t>
            </a:r>
          </a:p>
          <a:p>
            <a:pPr lvl="0"/>
            <a:r>
              <a:rPr/>
              <a:t>☐ Identify dev/test instances</a:t>
            </a:r>
          </a:p>
          <a:p>
            <a:pPr lvl="0"/>
            <a:r>
              <a:rPr/>
              <a:t>☐ Plan to disable HA for non-production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☕ BREAK (10 min)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5: MIGRATION &amp; NEXT STEPS (20 min)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29: Migration Strategy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Export/Import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Minutes-Hours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Dev/Test, small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Dual-Write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Production, critical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RIOT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datasets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</a:t>
            </a:r>
          </a:p>
          <a:p>
            <a:pPr lvl="0"/>
            <a:r>
              <a:rPr b="1"/>
              <a:t>Dev/Test</a:t>
            </a:r>
            <a:r>
              <a:rPr/>
              <a:t>: Export/Import (simplest)</a:t>
            </a:r>
          </a:p>
          <a:p>
            <a:pPr lvl="0"/>
            <a:r>
              <a:rPr b="1"/>
              <a:t>Production</a:t>
            </a:r>
            <a:r>
              <a:rPr/>
              <a:t>: Dual-Write or RIOT (zero downtime)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30: Pre-Migration Checklist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🔴 Critical Blockers (Check First!)</a:t>
            </a:r>
          </a:p>
          <a:p>
            <a:pPr lvl="0"/>
            <a:r>
              <a:rPr/>
              <a:t>☐ Multiple databases in use? → Redesign</a:t>
            </a:r>
          </a:p>
          <a:p>
            <a:pPr lvl="0"/>
            <a:r>
              <a:rPr/>
              <a:t>☐ Entra ID RBAC dependencies? → Plan alternative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🟡 High Impact (Must Address)</a:t>
            </a:r>
          </a:p>
          <a:p>
            <a:pPr lvl="0"/>
            <a:r>
              <a:rPr/>
              <a:t>☐ Non-TLS clients? → Migrate to TLS</a:t>
            </a:r>
          </a:p>
          <a:p>
            <a:pPr lvl="0"/>
            <a:r>
              <a:rPr/>
              <a:t>☐ VNet Injection? → Switch to Private Link</a:t>
            </a:r>
          </a:p>
          <a:p>
            <a:pPr lvl="0"/>
            <a:r>
              <a:rPr/>
              <a:t>☐ Hardcoded ports/hostnames? → Update configs</a:t>
            </a:r>
          </a:p>
          <a:p>
            <a:pPr lvl="0"/>
            <a:r>
              <a:rPr/>
              <a:t>☐ IP Firewall rules? → Replace with NSG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Opportunities</a:t>
            </a:r>
          </a:p>
          <a:p>
            <a:pPr lvl="0"/>
            <a:r>
              <a:rPr/>
              <a:t>☐ Dev/Test HA? → Disable for cost savings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31: Your Action Items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This Week</a:t>
            </a:r>
          </a:p>
          <a:p>
            <a:pPr lvl="0" indent="-342900" marL="342900">
              <a:buAutoNum type="arabicPeriod"/>
            </a:pPr>
            <a:r>
              <a:rPr b="1"/>
              <a:t>Inventory</a:t>
            </a:r>
            <a:r>
              <a:rPr/>
              <a:t>: List all ACR instances</a:t>
            </a:r>
          </a:p>
          <a:p>
            <a:pPr lvl="1" indent="0">
              <a:buNone/>
            </a:pPr>
            <a:r>
              <a:rPr>
                <a:latin typeface="Courier"/>
              </a:rPr>
              <a:t>az redis list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table</a:t>
            </a:r>
            <a:br/>
            <a:r>
              <a:rPr>
                <a:latin typeface="Courier"/>
              </a:rPr>
              <a:t>az redisenterprise list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table</a:t>
            </a:r>
          </a:p>
          <a:p>
            <a:pPr lvl="0" indent="-342900" marL="342900">
              <a:buAutoNum type="arabicPeriod"/>
            </a:pPr>
            <a:r>
              <a:rPr b="1"/>
              <a:t>Identify blockers</a:t>
            </a:r>
            <a:r>
              <a:rPr/>
              <a:t>: Check for multiple DBs, non-TLS</a:t>
            </a:r>
          </a:p>
          <a:p>
            <a:pPr lvl="1" indent="0">
              <a:buNone/>
            </a:pPr>
            <a:r>
              <a:rPr>
                <a:latin typeface="Courier"/>
              </a:rPr>
              <a:t>redis-cli INFO keyspace</a:t>
            </a:r>
          </a:p>
          <a:p>
            <a:pPr lvl="0" indent="-342900" marL="342900">
              <a:buAutoNum type="arabicPeriod"/>
            </a:pPr>
            <a:r>
              <a:rPr b="1"/>
              <a:t>Check region</a:t>
            </a:r>
            <a:r>
              <a:rPr/>
              <a:t>: Verify AMR availability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This Month</a:t>
            </a:r>
          </a:p>
          <a:p>
            <a:pPr lvl="0" indent="-342900" marL="342900">
              <a:buAutoNum startAt="4" type="arabicPeriod"/>
            </a:pPr>
            <a:r>
              <a:rPr b="1"/>
              <a:t>Size</a:t>
            </a:r>
            <a:r>
              <a:rPr/>
              <a:t>: Analyze memory, connections, ops/sec</a:t>
            </a:r>
          </a:p>
          <a:p>
            <a:pPr lvl="0" indent="-342900" marL="342900">
              <a:buAutoNum startAt="4" type="arabicPeriod"/>
            </a:pPr>
            <a:r>
              <a:rPr b="1"/>
              <a:t>Plan</a:t>
            </a:r>
            <a:r>
              <a:rPr/>
              <a:t>: Choose migration strategy per instance</a:t>
            </a:r>
          </a:p>
          <a:p>
            <a:pPr lvl="0" indent="-342900" marL="342900">
              <a:buAutoNum startAt="4" type="arabicPeriod"/>
            </a:pPr>
            <a:r>
              <a:rPr b="1"/>
              <a:t>IaC</a:t>
            </a:r>
            <a:r>
              <a:rPr/>
              <a:t>: Update Terraform/Bicep templates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32: Timeline Recommendation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Enterprise Tier (Deadline: March 2027)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Inventory, blockers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Design, IaC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Migrate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Q3-Q4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 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Contingency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Basic/Standard/Premium (Deadline: Sept 2028)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Inventory, blockers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Q4 2026 - Q1 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Design, IaC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Migrate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2027 - mid 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 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Contingency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33: Resources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>
                <a:hlinkClick r:id="rId2"/>
              </a:rPr>
              <a:t>AMR Overview</a:t>
            </a:r>
          </a:p>
          <a:p>
            <a:pPr lvl="0"/>
            <a:r>
              <a:rPr>
                <a:hlinkClick r:id="rId3"/>
              </a:rPr>
              <a:t>Migration Guide - Basic/Std/Premium</a:t>
            </a:r>
          </a:p>
          <a:p>
            <a:pPr lvl="0"/>
            <a:r>
              <a:rPr>
                <a:hlinkClick r:id="rId4"/>
              </a:rPr>
              <a:t>Migration Guide - Enterprise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Tools</a:t>
            </a:r>
          </a:p>
          <a:p>
            <a:pPr lvl="0"/>
            <a:r>
              <a:rPr>
                <a:hlinkClick r:id="rId5"/>
              </a:rPr>
              <a:t>RIOT Migration Tool</a:t>
            </a:r>
          </a:p>
          <a:p>
            <a:pPr lvl="0"/>
            <a:r>
              <a:rPr>
                <a:hlinkClick r:id="rId6"/>
              </a:rPr>
              <a:t>Redis Insight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This Workshop</a:t>
            </a:r>
          </a:p>
          <a:p>
            <a:pPr lvl="0"/>
            <a:r>
              <a:rPr/>
              <a:t>Full migration plan: </a:t>
            </a:r>
            <a:r>
              <a:rPr>
                <a:latin typeface="Courier"/>
              </a:rPr>
              <a:t>docs/ACR-TO-AMR-MIGRATION-PLAN.md</a:t>
            </a:r>
          </a:p>
          <a:p>
            <a:pPr lvl="0"/>
            <a:r>
              <a:rPr/>
              <a:t>Terraform examples: </a:t>
            </a:r>
            <a:r>
              <a:rPr>
                <a:latin typeface="Courier"/>
              </a:rPr>
              <a:t>examples/</a:t>
            </a:r>
            <a:r>
              <a:rPr/>
              <a:t> folder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6: Q&amp;A (10 min)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34: Common Questions</a:t>
            </a:r>
          </a:p>
          <a:p>
            <a:pPr lvl="0" indent="0" marL="0">
              <a:buNone/>
            </a:pPr>
            <a:r>
              <a:rPr b="1"/>
              <a:t>Q: Enterprise tier deadline is soon - what if we can’t make it?</a:t>
            </a:r>
            <a:r>
              <a:rPr/>
              <a:t> A: Start NOW. Contact Azure support if blocked.</a:t>
            </a:r>
          </a:p>
          <a:p>
            <a:pPr lvl="0" indent="0" marL="0">
              <a:buNone/>
            </a:pPr>
            <a:r>
              <a:rPr b="1"/>
              <a:t>Q: Can we keep using access keys?</a:t>
            </a:r>
            <a:r>
              <a:rPr/>
              <a:t> A: Yes, access keys work in AMR.</a:t>
            </a:r>
          </a:p>
          <a:p>
            <a:pPr lvl="0" indent="0" marL="0">
              <a:buNone/>
            </a:pPr>
            <a:r>
              <a:rPr b="1"/>
              <a:t>Q: Do we need new client libraries?</a:t>
            </a:r>
            <a:r>
              <a:rPr/>
              <a:t> A: Usually no, but verify TLS + clustering support.</a:t>
            </a:r>
          </a:p>
          <a:p>
            <a:pPr lvl="0" indent="0" marL="0">
              <a:buNone/>
            </a:pPr>
            <a:r>
              <a:rPr b="1"/>
              <a:t>Q: What about costs?</a:t>
            </a:r>
            <a:r>
              <a:rPr/>
              <a:t> A: Similar, but save on dev/test with optional HA.</a:t>
            </a:r>
          </a:p>
          <a:p>
            <a:pPr lvl="0" indent="0" marL="0">
              <a:buNone/>
            </a:pPr>
            <a:r>
              <a:rPr b="1"/>
              <a:t>Q: Active-Active geo-replication?</a:t>
            </a:r>
            <a:r>
              <a:rPr/>
              <a:t> A: Supported on all AMR tiers (except Flash).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Quick Reference - SKU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 SKU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C0-C3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B0-B1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C0-C6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B1-B5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P1-P5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B5-B20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E10-E100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B10-B100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Flash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 A-series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Quick Reference - Ports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 Cluster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13XXX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85XX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CLI Commands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List ACR</a:t>
            </a:r>
            <a:br/>
            <a:r>
              <a:rPr>
                <a:latin typeface="Courier"/>
              </a:rPr>
              <a:t>az redis list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table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List Enterprise ACR  </a:t>
            </a:r>
            <a:br/>
            <a:r>
              <a:rPr>
                <a:latin typeface="Courier"/>
              </a:rPr>
              <a:t>az redisenterprise list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table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AMR</a:t>
            </a:r>
            <a:br/>
            <a:r>
              <a:rPr>
                <a:latin typeface="Courier"/>
              </a:rPr>
              <a:t>az redisenterprise create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--name</a:t>
            </a:r>
            <a:r>
              <a:rPr>
                <a:latin typeface="Courier"/>
              </a:rPr>
              <a:t> myamr </a:t>
            </a:r>
            <a:r>
              <a:rPr>
                <a:solidFill>
                  <a:srgbClr val="7D9029"/>
                </a:solidFill>
                <a:latin typeface="Courier"/>
              </a:rPr>
              <a:t>--resource-group</a:t>
            </a:r>
            <a:r>
              <a:rPr>
                <a:latin typeface="Courier"/>
              </a:rPr>
              <a:t> myrg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--location</a:t>
            </a:r>
            <a:r>
              <a:rPr>
                <a:latin typeface="Courier"/>
              </a:rPr>
              <a:t> westus2 </a:t>
            </a:r>
            <a:r>
              <a:rPr>
                <a:solidFill>
                  <a:srgbClr val="7D9029"/>
                </a:solidFill>
                <a:latin typeface="Courier"/>
              </a:rPr>
              <a:t>--sku</a:t>
            </a:r>
            <a:r>
              <a:rPr>
                <a:latin typeface="Courier"/>
              </a:rPr>
              <a:t> Balanced_B10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database</a:t>
            </a:r>
            <a:br/>
            <a:r>
              <a:rPr>
                <a:latin typeface="Courier"/>
              </a:rPr>
              <a:t>az redisenterprise database create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--cluster-name</a:t>
            </a:r>
            <a:r>
              <a:rPr>
                <a:latin typeface="Courier"/>
              </a:rPr>
              <a:t> myamr </a:t>
            </a:r>
            <a:r>
              <a:rPr>
                <a:solidFill>
                  <a:srgbClr val="7D9029"/>
                </a:solidFill>
                <a:latin typeface="Courier"/>
              </a:rPr>
              <a:t>--resource-group</a:t>
            </a:r>
            <a:r>
              <a:rPr>
                <a:latin typeface="Courier"/>
              </a:rPr>
              <a:t> myrg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--client-protocol</a:t>
            </a:r>
            <a:r>
              <a:rPr>
                <a:latin typeface="Courier"/>
              </a:rPr>
              <a:t> Encrypted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--clustering-policy</a:t>
            </a:r>
            <a:r>
              <a:rPr>
                <a:latin typeface="Courier"/>
              </a:rPr>
              <a:t> EnterpriseCluster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Check scaling options</a:t>
            </a:r>
            <a:br/>
            <a:r>
              <a:rPr>
                <a:latin typeface="Courier"/>
              </a:rPr>
              <a:t>az redisenterprise list-skus-for-scaling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--cluster-name</a:t>
            </a:r>
            <a:r>
              <a:rPr>
                <a:latin typeface="Courier"/>
              </a:rPr>
              <a:t> myamr </a:t>
            </a:r>
            <a:r>
              <a:rPr>
                <a:solidFill>
                  <a:srgbClr val="7D9029"/>
                </a:solidFill>
                <a:latin typeface="Courier"/>
              </a:rPr>
              <a:t>--resource-group</a:t>
            </a:r>
            <a:r>
              <a:rPr>
                <a:latin typeface="Courier"/>
              </a:rPr>
              <a:t> myrg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Workshop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2026-04-21T06:34:04Z</dcterms:created>
  <dcterms:modified xsi:type="dcterms:W3CDTF">2026-04-21T06:34:04Z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